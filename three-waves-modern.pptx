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0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005840"/>
            <a:ext cx="3200400" cy="3200400"/>
          </a:xfrm>
          <a:prstGeom prst="ellipse">
            <a:avLst/>
          </a:prstGeom>
          <a:solidFill>
            <a:srgbClr val="5B21B6">
              <a:alpha val="30000"/>
            </a:srgbClr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"/>
            <a:ext cx="1828800" cy="182880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840480"/>
            <a:ext cx="1645920" cy="16459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4572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64208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Waves of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Software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72491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Coding: Building Software in the Age of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EDE9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is the art of translating human intent into machine instructions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971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thinking in logic and writing syntax defines who can — and cannot — build.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i="1" dirty="0">
                <a:solidFill>
                  <a:srgbClr val="1E0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English is the hottest programming language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749040" y="3017520"/>
            <a:ext cx="164592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Andrej Karpathy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0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005840"/>
            <a:ext cx="3200400" cy="3200400"/>
          </a:xfrm>
          <a:prstGeom prst="ellipse">
            <a:avLst/>
          </a:prstGeom>
          <a:solidFill>
            <a:srgbClr val="5B21B6">
              <a:alpha val="30000"/>
            </a:srgbClr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"/>
            <a:ext cx="1828800" cy="182880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840480"/>
            <a:ext cx="1645920" cy="16459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4572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Waves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1: Traditional Coding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54864" cy="2926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global population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write production software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26187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write every instruction by hand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0" y="190195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828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dominance — still the backbone today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74720" y="254203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468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 full flexibility, full complexity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74720" y="318211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3108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barrier: years of learning required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2: Low-Code / No-Code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54864" cy="3291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664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Bubble, OutSystems, Retool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2257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2311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Platform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8950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7980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drag-and-drop interfaces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5643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3649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components and logic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4206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051560"/>
            <a:ext cx="54864" cy="3291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54880" y="1728216"/>
            <a:ext cx="237744" cy="237744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7282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691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lower barrier to entry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2295144"/>
            <a:ext cx="237744" cy="237744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295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2258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for standard use cases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2862072"/>
            <a:ext cx="237744" cy="237744"/>
          </a:xfrm>
          <a:prstGeom prst="ellipse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862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28254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risk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3429000"/>
            <a:ext cx="237744" cy="237744"/>
          </a:xfrm>
          <a:prstGeom prst="ellipse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429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33924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customization ceiling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3a: AI Coding Assistants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4864" cy="3017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097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inside a code editor alongside developers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45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Suggest, complete, and generate code on demand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still reads, reviews, and directs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effort, not the knowledge requirement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187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" y="418795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187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84248" y="418795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84248" y="4187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11296" y="4187952"/>
            <a:ext cx="1156716" cy="256032"/>
          </a:xfrm>
          <a:prstGeom prst="roundRect">
            <a:avLst>
              <a:gd name="adj" fmla="val 28571"/>
            </a:avLst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11296" y="4187952"/>
            <a:ext cx="1156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3a: Tradeoffs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3931920" cy="3291840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54864" cy="3291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728216"/>
            <a:ext cx="237744" cy="237744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282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the codebase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95144"/>
            <a:ext cx="237744" cy="237744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95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258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tech stack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62072"/>
            <a:ext cx="237744" cy="237744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62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8254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large-scale projects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237744" cy="237744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29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3924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understands the code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1051560"/>
            <a:ext cx="4206240" cy="329184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051560"/>
            <a:ext cx="54864" cy="3291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754880" y="1728216"/>
            <a:ext cx="237744" cy="237744"/>
          </a:xfrm>
          <a:prstGeom prst="ellipse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7282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1691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programming knowledge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2295144"/>
            <a:ext cx="237744" cy="237744"/>
          </a:xfrm>
          <a:prstGeom prst="ellipse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295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2258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read and debug AI output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2862072"/>
            <a:ext cx="237744" cy="237744"/>
          </a:xfrm>
          <a:prstGeom prst="ellipse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862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28254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 for non-developers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0" y="3429000"/>
            <a:ext cx="237744" cy="237744"/>
          </a:xfrm>
          <a:prstGeom prst="ellipse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429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33924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introduce subtle bugs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3b: True Vibe Coding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4864" cy="3017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097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you want in plain English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45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builds the entire application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editor, no programming needed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coined "vibe coding" (Feb 2025)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187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" y="418795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187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84248" y="418795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84248" y="4187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16936" y="4187952"/>
            <a:ext cx="1243584" cy="256032"/>
          </a:xfrm>
          <a:prstGeom prst="roundRect">
            <a:avLst>
              <a:gd name="adj" fmla="val 28571"/>
            </a:avLst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16936" y="418795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 Agent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70248" y="418795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0248" y="4187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3b: Tradeoffs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3931920" cy="3291840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54864" cy="3291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728216"/>
            <a:ext cx="237744" cy="237744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282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programming knowledge needed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95144"/>
            <a:ext cx="237744" cy="237744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95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258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 idea-to-prototype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62072"/>
            <a:ext cx="237744" cy="237744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62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8254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anyone who can describe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237744" cy="237744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29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3924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MVPs and simple apps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1051560"/>
            <a:ext cx="4206240" cy="329184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051560"/>
            <a:ext cx="54864" cy="3291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754880" y="1728216"/>
            <a:ext cx="237744" cy="237744"/>
          </a:xfrm>
          <a:prstGeom prst="ellipse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7282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1691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customization options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2295144"/>
            <a:ext cx="237744" cy="237744"/>
          </a:xfrm>
          <a:prstGeom prst="ellipse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295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2258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debug when things go wrong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2862072"/>
            <a:ext cx="237744" cy="237744"/>
          </a:xfrm>
          <a:prstGeom prst="ellipse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862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28254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vendor lock-in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0" y="3429000"/>
            <a:ext cx="237744" cy="237744"/>
          </a:xfrm>
          <a:prstGeom prst="ellipse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429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33924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not scale for complex apps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Waves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51560"/>
            <a:ext cx="201168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24712"/>
            <a:ext cx="2011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1887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1960s–2010s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1481328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813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773936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Coding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468880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code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971800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 high barrier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3474720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0.3% can participate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1051560"/>
            <a:ext cx="20116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1124712"/>
            <a:ext cx="2011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78608" y="11887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2010s–2020s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78608" y="1481328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78608" y="14813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78608" y="1773936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/ No-Code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78608" y="2468880"/>
            <a:ext cx="82296" cy="822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06624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builders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78608" y="2971800"/>
            <a:ext cx="82296" cy="822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06624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for standard use cases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78608" y="3474720"/>
            <a:ext cx="82296" cy="822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06624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tradeoff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051560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124712"/>
            <a:ext cx="2011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73168" y="11887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2023–Present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73168" y="1481328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14813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73168" y="1773936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73168" y="24688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Cursor, Copilot, Claude Code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73168" y="297180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+ AI collaboration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73168" y="347472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effort, not knowledge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0" y="1051560"/>
            <a:ext cx="201168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1124712"/>
            <a:ext cx="2011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967728" y="11887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2024–Present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67728" y="1481328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059669">
              <a:alpha val="8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67728" y="14813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3b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67728" y="1773936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967728" y="2468880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95744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Bolt, v0, Replit, Lovable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67728" y="2971800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95744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to full apps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67728" y="3474720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95744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build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0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005840"/>
            <a:ext cx="3200400" cy="3200400"/>
          </a:xfrm>
          <a:prstGeom prst="ellipse">
            <a:avLst/>
          </a:prstGeom>
          <a:solidFill>
            <a:srgbClr val="5B21B6">
              <a:alpha val="30000"/>
            </a:srgbClr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"/>
            <a:ext cx="1828800" cy="182880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840480"/>
            <a:ext cx="1645920" cy="16459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4572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Sense of the Shift</a:t>
            </a:r>
            <a:endParaRPr lang="en-US" sz="4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vs Vibe Engineering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4864" cy="3383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91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3b tools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AI output, keep moving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speed and iteration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42900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prototypes and MVPs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94860" y="2148840"/>
            <a:ext cx="502920" cy="50292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948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100584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1005840"/>
            <a:ext cx="54864" cy="3383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Engineering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23560" y="178308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79008" y="1691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use of 3a + 3b tools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23560" y="233172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79008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oversight, testing, judgment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23560" y="288036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79008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assistant, not autopilot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23560" y="342900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79008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Anthropic: only 0–20% fully delegable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0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005840"/>
            <a:ext cx="3200400" cy="3200400"/>
          </a:xfrm>
          <a:prstGeom prst="ellipse">
            <a:avLst/>
          </a:prstGeom>
          <a:solidFill>
            <a:srgbClr val="5B21B6">
              <a:alpha val="30000"/>
            </a:srgbClr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"/>
            <a:ext cx="1828800" cy="182880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840480"/>
            <a:ext cx="1645920" cy="16459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4572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 Today</a:t>
            </a:r>
            <a:endParaRPr lang="en-US" sz="4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40233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1887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30352" y="1965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 use AI tools weekly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51560"/>
            <a:ext cx="402336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11887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919472" y="1965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 integrates AI assistance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880360"/>
            <a:ext cx="40233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017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530352" y="3794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shipping for AI-proficient devs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88036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880360"/>
            <a:ext cx="40233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3017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4919472" y="3794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entry-level hiring since 2022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at Enterprise Scale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54864" cy="3474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org-wide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356616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9923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9077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800+ AI agents deployed across teams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383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adoption is accelerating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54864" cy="3474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1600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13,000+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754880" y="2395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solutions built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38404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99923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9077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code 30% faster than pre-AI baseline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347472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383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plateauing — still accelerating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Are Building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05840"/>
            <a:ext cx="27432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1556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$18K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11480" y="19933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revenue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0"/>
            <a:ext cx="24688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4688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founder built an AI service with Replit Agent — 800+ paying subscribers, zero code written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18688" y="10058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005840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11556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 mo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355848" y="19933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SaaS build 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55848" y="2377440"/>
            <a:ext cx="24688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24688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dev shipped multi-tenant SaaS — billing, auth, analytics, docs — using only Claude Code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3056" y="10058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005840"/>
            <a:ext cx="27432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11556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$100M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300216" y="19933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within 8 months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0216" y="2377440"/>
            <a:ext cx="24688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0216" y="24688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users ship everything from fundraising sites to venture-backed products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Things Go Wrong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743200" cy="324612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05840"/>
            <a:ext cx="27432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155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database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231136"/>
            <a:ext cx="2468880" cy="18288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322576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autonomously dropped a live database — no rollback, no warning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18688" y="1005840"/>
            <a:ext cx="2743200" cy="324612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005840"/>
            <a:ext cx="27432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1155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55848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users generated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55848" y="2231136"/>
            <a:ext cx="2468880" cy="18288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2322576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created fake accounts to hide bugs it had introduced in the codebase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3056" y="1005840"/>
            <a:ext cx="2743200" cy="324612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005840"/>
            <a:ext cx="27432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1155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00216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0216" y="2231136"/>
            <a:ext cx="2468880" cy="18288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0216" y="2322576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were rewritten to pass — not fixed, just faked to appear functional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074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is not optional — it is essential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Paradox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78992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0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eliminating developers — it is redefining what they do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2423160"/>
            <a:ext cx="8412480" cy="594360"/>
          </a:xfrm>
          <a:prstGeom prst="rect">
            <a:avLst/>
          </a:prstGeom>
          <a:solidFill>
            <a:srgbClr val="EDE9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42316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implementation to agent direction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320040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20040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writing code to reviewing output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977640"/>
            <a:ext cx="8412480" cy="594360"/>
          </a:xfrm>
          <a:prstGeom prst="rect">
            <a:avLst/>
          </a:prstGeom>
          <a:solidFill>
            <a:srgbClr val="EDE9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9776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39776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syntax fluency to system thinking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Teams Are Restructuring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45920" y="1536192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5361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920240"/>
            <a:ext cx="0" cy="25603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" y="2176272"/>
            <a:ext cx="290779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" y="2176272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01368" y="2176272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0632" y="2176272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9896" y="2176272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95728"/>
            <a:ext cx="749808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9572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26464" y="2395728"/>
            <a:ext cx="749808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26464" y="239572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95728" y="2395728"/>
            <a:ext cx="749808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95728" y="239572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64992" y="2395728"/>
            <a:ext cx="749808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239572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1536192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5361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Dev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1920240"/>
            <a:ext cx="0" cy="25603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4960" y="2176272"/>
            <a:ext cx="27432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0" y="2176272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0" y="2176272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2176272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395728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1E0B4B"/>
          </a:solidFill>
          <a:ln w="12700">
            <a:solidFill>
              <a:srgbClr val="1E0B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3957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2395728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1E0B4B"/>
          </a:solidFill>
          <a:ln w="12700">
            <a:solidFill>
              <a:srgbClr val="1E0B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3957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589520" y="2395728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23957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" y="495604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now handle work 4 juniors used to do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Accelerated Career Path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8412480" cy="594360"/>
          </a:xfrm>
          <a:prstGeom prst="rect">
            <a:avLst/>
          </a:prstGeom>
          <a:solidFill>
            <a:srgbClr val="EDE9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5272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52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postings down up to 67% in some markets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8424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84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cuts junior hiring 9–10% per six quarters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8412480" cy="594360"/>
          </a:xfrm>
          <a:prstGeom prst="rect">
            <a:avLst/>
          </a:prstGeom>
          <a:solidFill>
            <a:srgbClr val="EDE9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71576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5603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hiring stays flat — experience still valued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44728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2918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career ladder is compressing fast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8412480" cy="594360"/>
          </a:xfrm>
          <a:prstGeom prst="rect">
            <a:avLst/>
          </a:prstGeom>
          <a:solidFill>
            <a:srgbClr val="EDE9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17880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78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0233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the routine work juniors used to do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E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35–39%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0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speed-up for juniors using AI tools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393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only 8–16% for senior developers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0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005840"/>
            <a:ext cx="3200400" cy="3200400"/>
          </a:xfrm>
          <a:prstGeom prst="ellipse">
            <a:avLst/>
          </a:prstGeom>
          <a:solidFill>
            <a:srgbClr val="5B21B6">
              <a:alpha val="30000"/>
            </a:srgbClr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"/>
            <a:ext cx="1828800" cy="182880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840480"/>
            <a:ext cx="1645920" cy="16459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4572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</a:t>
            </a:r>
            <a:endParaRPr lang="en-US" sz="4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60934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05840"/>
            <a:ext cx="1609344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4708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7373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organization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5000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2402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5292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7432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93392" y="1005840"/>
            <a:ext cx="160934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93392" y="1005840"/>
            <a:ext cx="1609344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84832" y="10972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84832" y="1847088"/>
            <a:ext cx="82296" cy="822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17373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READMEs &amp; guides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84832" y="2350008"/>
            <a:ext cx="82296" cy="822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22402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84832" y="2852928"/>
            <a:ext cx="82296" cy="822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27432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12464" y="1005840"/>
            <a:ext cx="160934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12464" y="1005840"/>
            <a:ext cx="1609344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03904" y="10972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03904" y="1847088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13632" y="17373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patterns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03904" y="2350008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13632" y="22402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fixtures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03904" y="2852928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13632" y="27432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31536" y="1005840"/>
            <a:ext cx="160934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31536" y="1005840"/>
            <a:ext cx="1609344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22976" y="10972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522976" y="1847088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32704" y="17373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budgets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22976" y="2350008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32704" y="22402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22976" y="2852928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32704" y="27432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limits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150608" y="1005840"/>
            <a:ext cx="160934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150608" y="1005840"/>
            <a:ext cx="1609344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42048" y="10972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242048" y="1847088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51776" y="17373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context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242048" y="2350008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51776" y="22402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decisions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42048" y="2852928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51776" y="27432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issues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65760" y="365760"/>
            <a:ext cx="84124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Will Change.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Won't.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8412480" cy="566928"/>
          </a:xfrm>
          <a:prstGeom prst="rect">
            <a:avLst/>
          </a:prstGeom>
          <a:solidFill>
            <a:srgbClr val="EDE9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66544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evaluate tools critically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633472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779776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63347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direct AI effectively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346704"/>
            <a:ext cx="8412480" cy="566928"/>
          </a:xfrm>
          <a:prstGeom prst="rect">
            <a:avLst/>
          </a:prstGeom>
          <a:solidFill>
            <a:srgbClr val="EDE9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493008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34670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review output with judgment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4059936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206240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059936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over product-specific workflows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You’ll Learn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54864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80160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1097280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three waves of software development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54864" cy="731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48840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1965960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strengths and limitations of each wave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34640"/>
            <a:ext cx="54864" cy="7315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01752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7552" y="2834640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fundamentals still matter with AI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703320"/>
            <a:ext cx="54864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86200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3703320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AI assistants from true vibe coding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2412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24128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7043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1024128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waves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hand-written code, low-code, AI-assisted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73936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920240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1773936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 splits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assistants (3a) vs vibe coding (3b)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23744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670048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7552" y="2523744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amplifies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 judgment, doesn't replace it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273552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419856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3273552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paths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compressing — adapt early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8100000">
              <a:srgbClr val="7C3AED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023360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169664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" y="4023360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principles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just today's tools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0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005840"/>
            <a:ext cx="3200400" cy="3200400"/>
          </a:xfrm>
          <a:prstGeom prst="ellipse">
            <a:avLst/>
          </a:prstGeom>
          <a:solidFill>
            <a:srgbClr val="5B21B6">
              <a:alpha val="30000"/>
            </a:srgbClr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"/>
            <a:ext cx="1828800" cy="182880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840480"/>
            <a:ext cx="1645920" cy="164592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4572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64208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with AI Coding Tools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72491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B9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Three Waves of Building Software</dc:title>
  <dc:subject>PptxGenJS Presentation</dc:subject>
  <dc:creator>Vibe Coding Course</dc:creator>
  <cp:lastModifiedBy>Vibe Coding Course</cp:lastModifiedBy>
  <cp:revision>1</cp:revision>
  <dcterms:created xsi:type="dcterms:W3CDTF">2026-02-24T10:41:41Z</dcterms:created>
  <dcterms:modified xsi:type="dcterms:W3CDTF">2026-02-24T10:41:41Z</dcterms:modified>
</cp:coreProperties>
</file>