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914400"/>
            <a:ext cx="5029200" cy="50292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COURSE  ·  LECTURE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444752"/>
            <a:ext cx="6400800" cy="23774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1A3251"/>
          </a:solidFill>
          <a:ln w="25400">
            <a:solidFill>
              <a:srgbClr val="F48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Building Software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Software in the Age of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170432"/>
            <a:ext cx="7863840" cy="23774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7863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the art of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human intent into machine instructions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thinking in logic and writing syntax defines who can — and cannot — build.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F48E2D">
              <a:alpha val="15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48E2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"English is the hottest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language"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3520440"/>
            <a:ext cx="2743200" cy="4572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8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Andrej Karpathy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wave lowering the barrier to who can build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Traditional Coding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2801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2801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– 2010s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627632"/>
            <a:ext cx="2834640" cy="228600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834640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population can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production 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417320"/>
            <a:ext cx="5074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write every instruction by hand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dominance — still the backbone today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flexibility, full complexity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barrier: years of learning required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2: Low-Code / No-Code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2801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280160" cy="292608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 – 2020s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1627632"/>
            <a:ext cx="3931920" cy="320040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39319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OutSystems, Retool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Platform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interfaces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components and logic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28032" y="1627632"/>
            <a:ext cx="3931920" cy="320040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54480"/>
            <a:ext cx="3931920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Much lower barrier to entry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 for standard use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Vendor lock-in risk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Limited customization ceiling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3a: AI Coding Assistants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37160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371600" cy="292608"/>
          </a:xfrm>
          <a:prstGeom prst="rect">
            <a:avLst/>
          </a:prstGeom>
          <a:solidFill>
            <a:srgbClr val="5B24C4"/>
          </a:solidFill>
          <a:ln w="12700">
            <a:solidFill>
              <a:srgbClr val="5B2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Present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inside a code editor alongside developers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Suggest, complete, and generate code on demand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still reads, reviews, and directs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effort, not the knowledge requirement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4343400"/>
            <a:ext cx="109728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4297680"/>
            <a:ext cx="10972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4297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4343400"/>
            <a:ext cx="17373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4297680"/>
            <a:ext cx="17373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2976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4343400"/>
            <a:ext cx="137160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4297680"/>
            <a:ext cx="13716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297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3a: Tradeoffs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3931920" cy="347472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codebase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tech stack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large-scale projects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understands the code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8032" y="1261872"/>
            <a:ext cx="3931920" cy="347472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programming knowledge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read and debug AI output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for non-developers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introduce subtle bugs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3b: True Vibe Coding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37160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371600" cy="292608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in plain English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builds the entire application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editor, no programming needed</a:t>
            </a:r>
            <a:endParaRPr lang="en-US" sz="18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coined "vibe coding" (Feb 2025)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4343400"/>
            <a:ext cx="8229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4297680"/>
            <a:ext cx="8229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42976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4343400"/>
            <a:ext cx="59436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4297680"/>
            <a:ext cx="5943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42976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4343400"/>
            <a:ext cx="146304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4297680"/>
            <a:ext cx="14630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4297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4343400"/>
            <a:ext cx="1005840" cy="29260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4297680"/>
            <a:ext cx="10058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297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3b: Tradeoffs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3931920" cy="347472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knowledge needed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idea-to-prototype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anyone who can describe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MVPs and simple apps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8032" y="1261872"/>
            <a:ext cx="3931920" cy="347472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 options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debug when things go wrong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vendor lock-in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scale for complex apps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Waves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216152"/>
            <a:ext cx="1965960" cy="338328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965960" cy="3383280"/>
          </a:xfrm>
          <a:prstGeom prst="rect">
            <a:avLst/>
          </a:prstGeom>
          <a:solidFill>
            <a:srgbClr val="1A3251"/>
          </a:solidFill>
          <a:ln w="25400">
            <a:solidFill>
              <a:srgbClr val="F48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965960" cy="7315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1960s–2010s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1746504" cy="36576"/>
          </a:xfrm>
          <a:prstGeom prst="rect">
            <a:avLst/>
          </a:prstGeom>
          <a:solidFill>
            <a:srgbClr val="F48E2D">
              <a:alpha val="50000"/>
            </a:srgbClr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24328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high barrier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0.3% can participate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1216152"/>
            <a:ext cx="1965960" cy="338328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9736" y="1143000"/>
            <a:ext cx="1965960" cy="3383280"/>
          </a:xfrm>
          <a:prstGeom prst="rect">
            <a:avLst/>
          </a:prstGeom>
          <a:solidFill>
            <a:srgbClr val="1A3251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9736" y="1143000"/>
            <a:ext cx="19659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13258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9464" y="161848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2010s–2020s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9464" y="18562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No-Code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9464" y="2514600"/>
            <a:ext cx="1746504" cy="36576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9464" y="2624328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builders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 standard use cases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tradeoff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216152"/>
            <a:ext cx="1965960" cy="3383280"/>
          </a:xfrm>
          <a:prstGeom prst="rect">
            <a:avLst/>
          </a:prstGeom>
          <a:solidFill>
            <a:srgbClr val="5B24C4"/>
          </a:solidFill>
          <a:ln w="12700">
            <a:solidFill>
              <a:srgbClr val="5B2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1143000"/>
            <a:ext cx="1965960" cy="3383280"/>
          </a:xfrm>
          <a:prstGeom prst="rect">
            <a:avLst/>
          </a:prstGeom>
          <a:solidFill>
            <a:srgbClr val="1A3251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11430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258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61848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2023–Present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8562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1746504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624328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Copilot, Claude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AI collaboration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effort, not knowledge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1216152"/>
            <a:ext cx="1965960" cy="338328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1143000"/>
            <a:ext cx="1965960" cy="3383280"/>
          </a:xfrm>
          <a:prstGeom prst="rect">
            <a:avLst/>
          </a:prstGeom>
          <a:solidFill>
            <a:srgbClr val="1A3251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8" y="1143000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13258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57416" y="161848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2024–Present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57416" y="1856232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57416" y="2514600"/>
            <a:ext cx="1746504" cy="36576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2624328"/>
            <a:ext cx="17465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Bolt, v0, Replit, Lovable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to full apps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Sense of the Shift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understanding the transition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vs Vibe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3749040" cy="347472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749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4930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3b tools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AI output, keep moving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speed and iteration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prototypes and MVPs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304288"/>
            <a:ext cx="585216" cy="585216"/>
          </a:xfrm>
          <a:prstGeom prst="ellipse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231136"/>
            <a:ext cx="585216" cy="585216"/>
          </a:xfrm>
          <a:prstGeom prst="ellipse">
            <a:avLst/>
          </a:prstGeom>
          <a:solidFill>
            <a:srgbClr val="0F1F33"/>
          </a:solidFill>
          <a:ln w="25400">
            <a:solidFill>
              <a:srgbClr val="F48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311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10912" y="1261872"/>
            <a:ext cx="3749040" cy="347472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18872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188720"/>
            <a:ext cx="37490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325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874520"/>
            <a:ext cx="34930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use of 3a + 3b tools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oversight, testing, judgment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assistant, not autopilot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0-20% of tasks fully delegable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Today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numbers, team changes, real-world results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3931920" cy="178308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783080"/>
          </a:xfrm>
          <a:prstGeom prst="rect">
            <a:avLst/>
          </a:prstGeom>
          <a:solidFill>
            <a:srgbClr val="1A3251"/>
          </a:solidFill>
          <a:ln w="25400">
            <a:solidFill>
              <a:srgbClr val="F48E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78308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use AI tools weekly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9432" y="1261872"/>
            <a:ext cx="3931920" cy="178308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188720"/>
            <a:ext cx="3931920" cy="1783080"/>
          </a:xfrm>
          <a:prstGeom prst="rect">
            <a:avLst/>
          </a:prstGeom>
          <a:solidFill>
            <a:srgbClr val="1A3251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188720"/>
            <a:ext cx="91440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325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727448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integrates AI assistance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" y="3182112"/>
            <a:ext cx="3931920" cy="178308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3931920" cy="1783080"/>
          </a:xfrm>
          <a:prstGeom prst="rect">
            <a:avLst/>
          </a:prstGeom>
          <a:solidFill>
            <a:srgbClr val="1A3251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08960"/>
            <a:ext cx="91440" cy="1783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58368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shipping for AI-proficient devs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99432" y="3182112"/>
            <a:ext cx="3931920" cy="178308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108960"/>
            <a:ext cx="3931920" cy="1783080"/>
          </a:xfrm>
          <a:prstGeom prst="rect">
            <a:avLst/>
          </a:prstGeom>
          <a:solidFill>
            <a:srgbClr val="1A3251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108960"/>
            <a:ext cx="91440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727448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entry-level hiring since 2022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Enterprise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3931920" cy="35204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org-wide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AI agents deployed across teams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adoption is accelerating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28032" y="1261872"/>
            <a:ext cx="3931920" cy="352044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39319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solutions built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code 30% faster than pre-AI baseline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plateauing — still accelerating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Are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2715768" cy="356616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7157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715768" cy="7315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2441448" cy="36576"/>
          </a:xfrm>
          <a:prstGeom prst="rect">
            <a:avLst/>
          </a:prstGeom>
          <a:solidFill>
            <a:srgbClr val="F48E2D">
              <a:alpha val="45000"/>
            </a:srgbClr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97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founder built an AI service with Replit Agent — 800+ paying subscribers, zero code written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61872"/>
            <a:ext cx="2715768" cy="356616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188720"/>
            <a:ext cx="27157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188720"/>
            <a:ext cx="27157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353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mo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447288" y="2194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SaaS build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2560320"/>
            <a:ext cx="2441448" cy="36576"/>
          </a:xfrm>
          <a:prstGeom prst="rect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697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 shipped multi-tenant SaaS — billing, auth, analytics, docs — using only Claude 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6208" y="1261872"/>
            <a:ext cx="2715768" cy="356616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188720"/>
            <a:ext cx="27157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188720"/>
            <a:ext cx="2715768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353312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300216" y="2194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within 8 months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0216" y="2560320"/>
            <a:ext cx="2441448" cy="36576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697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users ship everything from fundraising sites to venture-backed products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2715768" cy="310896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7157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715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2441448" cy="3657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87752"/>
            <a:ext cx="2441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autonomously dropped a live database — no rollback, no warning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261872"/>
            <a:ext cx="2715768" cy="310896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188720"/>
            <a:ext cx="27157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188720"/>
            <a:ext cx="2715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3533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47288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users generated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2450592"/>
            <a:ext cx="2441448" cy="3657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587752"/>
            <a:ext cx="2441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created fake accounts to hide bugs it had introduced in the codebase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1261872"/>
            <a:ext cx="2715768" cy="3108960"/>
          </a:xfrm>
          <a:prstGeom prst="rect">
            <a:avLst/>
          </a:prstGeom>
          <a:solidFill>
            <a:srgbClr val="C73030"/>
          </a:solidFill>
          <a:ln w="12700">
            <a:solidFill>
              <a:srgbClr val="C73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188720"/>
            <a:ext cx="27157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188720"/>
            <a:ext cx="2715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3533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0216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0216" y="2450592"/>
            <a:ext cx="2441448" cy="36576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587752"/>
            <a:ext cx="2441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were rewritten to pass — not fixed, just faked to appear functional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is not optional — it is essential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078992"/>
            <a:ext cx="7863840" cy="137160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solidFill>
            <a:srgbClr val="1A325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eliminating developers —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redefining what they 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274320" cy="36576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implementation to agent direction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74320" cy="36576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278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writing code to reviewing output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867912"/>
            <a:ext cx="274320" cy="36576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496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syntax fluency to system thinking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Are Restructuring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09344" y="1664208"/>
            <a:ext cx="1280160" cy="438912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600200"/>
            <a:ext cx="1280160" cy="43891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00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039112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3291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651760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87752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6464" y="2651760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587752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0864" y="2651760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87752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5264" y="2651760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587752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188720"/>
            <a:ext cx="64008" cy="329184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98464" y="1664208"/>
            <a:ext cx="1280160" cy="438912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600200"/>
            <a:ext cx="1280160" cy="43891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600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2039112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331720"/>
            <a:ext cx="3474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9744" y="2651760"/>
            <a:ext cx="914400" cy="38404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87752"/>
            <a:ext cx="914400" cy="38404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1304" y="2651760"/>
            <a:ext cx="914400" cy="38404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2587752"/>
            <a:ext cx="914400" cy="384048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0" y="233172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2864" y="2651760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2587752"/>
            <a:ext cx="91440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5877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3749040"/>
            <a:ext cx="64008" cy="4572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flatter teams with fewer entry-level positions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Accelerated Career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7607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postings down up to 67% in some markets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cuts junior hiring 9-10% per six quarters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hiring stays flat — experience still valued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career ladder is compressing fast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routine work juniors used to 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19672" y="1490472"/>
            <a:ext cx="2286000" cy="292608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1417320"/>
            <a:ext cx="2286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1417320"/>
            <a:ext cx="2286000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087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entry-level postings in some markets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87552" y="1170432"/>
            <a:ext cx="7315200" cy="2331720"/>
          </a:xfrm>
          <a:prstGeom prst="rect">
            <a:avLst/>
          </a:prstGeom>
          <a:solidFill>
            <a:srgbClr val="1A9748"/>
          </a:solidFill>
          <a:ln w="12700">
            <a:solidFill>
              <a:srgbClr val="1A9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7315200" cy="2331720"/>
          </a:xfrm>
          <a:prstGeom prst="rect">
            <a:avLst/>
          </a:prstGeom>
          <a:solidFill>
            <a:srgbClr val="1A325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73152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35-39%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for juniors using AI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0050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only 8-16% for senior developers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 for your career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16152"/>
            <a:ext cx="1581912" cy="32918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581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581912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39903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3990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organization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21992" y="1216152"/>
            <a:ext cx="1581912" cy="32918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143000"/>
            <a:ext cx="1581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143000"/>
            <a:ext cx="1581912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28016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1965960"/>
            <a:ext cx="139903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103120"/>
            <a:ext cx="13990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READMEs and guides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13632" y="1216152"/>
            <a:ext cx="1581912" cy="32918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143000"/>
            <a:ext cx="1581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143000"/>
            <a:ext cx="1581912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28016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1965960"/>
            <a:ext cx="139903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103120"/>
            <a:ext cx="13990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patterns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fixtures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05272" y="1216152"/>
            <a:ext cx="1581912" cy="32918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143000"/>
            <a:ext cx="1581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143000"/>
            <a:ext cx="1581912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28016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23560" y="1965960"/>
            <a:ext cx="139903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103120"/>
            <a:ext cx="13990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limits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96912" y="1216152"/>
            <a:ext cx="1581912" cy="329184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143000"/>
            <a:ext cx="1581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143000"/>
            <a:ext cx="1581912" cy="6400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28016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1965960"/>
            <a:ext cx="139903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103120"/>
            <a:ext cx="1399032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context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decisions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Will Change.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Won't.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04672" y="2404872"/>
            <a:ext cx="7680960" cy="45720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1A325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54864" cy="4572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404872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95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tools critically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" y="2999232"/>
            <a:ext cx="7680960" cy="45720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solidFill>
            <a:srgbClr val="1A325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54864" cy="4572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999232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90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direct AI effectively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" y="3593592"/>
            <a:ext cx="7680960" cy="45720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1A325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520440"/>
            <a:ext cx="54864" cy="4572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593592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520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review output with judgment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" y="4187952"/>
            <a:ext cx="7680960" cy="457200"/>
          </a:xfrm>
          <a:prstGeom prst="rect">
            <a:avLst/>
          </a:prstGeom>
          <a:solidFill>
            <a:srgbClr val="0585A0"/>
          </a:solidFill>
          <a:ln w="12700">
            <a:solidFill>
              <a:srgbClr val="0585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A325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114800"/>
            <a:ext cx="54864" cy="4572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87952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78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1148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over product-specific workflows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8229600" cy="71323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66928" cy="713232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70432" y="11887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waves of software development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30352" y="2130552"/>
            <a:ext cx="822960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56692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5740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70432" y="20574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strengths and limitations of each wave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30352" y="2999232"/>
            <a:ext cx="822960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56692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29260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fundamentals still matter with AI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0352" y="3867912"/>
            <a:ext cx="82296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94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94760"/>
            <a:ext cx="56692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70432" y="37947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 assistants from true vibe coding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" cy="566928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8028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252728"/>
            <a:ext cx="475488" cy="475488"/>
          </a:xfrm>
          <a:prstGeom prst="ellipse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48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2529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waves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hand-written code, low-code, AI-assisted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01952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splits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assistants (3a) vs vibe coding (3b)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30352" y="2679192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151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judgment, doesn't replace it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30352" y="339242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28416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6499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compressing — adapt early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0352" y="4105656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41648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07822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principles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today's tools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48E2D"/>
          </a:solidFill>
          <a:ln w="12700">
            <a:solidFill>
              <a:srgbClr val="F48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48E2D">
              <a:alpha val="12000"/>
            </a:srgbClr>
          </a:solidFill>
          <a:ln w="12700">
            <a:solidFill>
              <a:srgbClr val="F48E2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48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" y="1947672"/>
            <a:ext cx="7315200" cy="1508760"/>
          </a:xfrm>
          <a:prstGeom prst="rect">
            <a:avLst/>
          </a:prstGeom>
          <a:solidFill>
            <a:srgbClr val="C97020"/>
          </a:solidFill>
          <a:ln w="12700">
            <a:solidFill>
              <a:srgbClr val="C97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7315200" cy="1508760"/>
          </a:xfrm>
          <a:prstGeom prst="rect">
            <a:avLst/>
          </a:prstGeom>
          <a:solidFill>
            <a:srgbClr val="1A325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7315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AI Coding Tools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Waves of Building Software</dc:title>
  <dc:subject>PptxGenJS Presentation</dc:subject>
  <dc:creator>Vibe Coding Course</dc:creator>
  <cp:lastModifiedBy>Vibe Coding Course</cp:lastModifiedBy>
  <cp:revision>1</cp:revision>
  <dcterms:created xsi:type="dcterms:W3CDTF">2026-02-24T07:44:20Z</dcterms:created>
  <dcterms:modified xsi:type="dcterms:W3CDTF">2026-02-24T07:44:20Z</dcterms:modified>
</cp:coreProperties>
</file>